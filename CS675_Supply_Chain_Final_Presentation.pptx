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Units Sold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 promotion</c:v>
                  </c:pt>
                  <c:pt idx="1">
                    <c:v>Promotion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19.5</c:v>
                </c:pt>
                <c:pt idx="1">
                  <c:v>24.91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Inventory Risk %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 promotion</c:v>
                  </c:pt>
                  <c:pt idx="1">
                    <c:v>Promotion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5.34</c:v>
                </c:pt>
                <c:pt idx="1">
                  <c:v>7.2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Units Sold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Non-holiday</c:v>
                  </c:pt>
                  <c:pt idx="1">
                    <c:v>Holiday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20.09</c:v>
                </c:pt>
                <c:pt idx="1">
                  <c:v>18.87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143000"/>
            <a:ext cx="7040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Holiday Demand &amp; Supply Chain Inventory Analytics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2FE"/>
                </a:solidFill>
              </a:rPr>
              <a:t>PySpark analysis with multi-source joins and AWS cloud validation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3246120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3305556"/>
            <a:ext cx="1453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C7D2FE"/>
                </a:solidFill>
              </a:rPr>
              <a:t>CS-675 Final Project</a:t>
            </a:r>
            <a:endParaRPr lang="en-US" sz="740" dirty="0"/>
          </a:p>
        </p:txBody>
      </p:sp>
      <p:sp>
        <p:nvSpPr>
          <p:cNvPr id="6" name="Shape 4"/>
          <p:cNvSpPr/>
          <p:nvPr/>
        </p:nvSpPr>
        <p:spPr>
          <a:xfrm>
            <a:off x="2514600" y="3246120"/>
            <a:ext cx="1691640" cy="292608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87752" y="3305556"/>
            <a:ext cx="15453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C7D2FE"/>
                </a:solidFill>
              </a:rPr>
              <a:t>S3 + Glue + Athena</a:t>
            </a:r>
            <a:endParaRPr lang="en-US" sz="740" dirty="0"/>
          </a:p>
        </p:txBody>
      </p:sp>
      <p:sp>
        <p:nvSpPr>
          <p:cNvPr id="8" name="Shape 6"/>
          <p:cNvSpPr/>
          <p:nvPr/>
        </p:nvSpPr>
        <p:spPr>
          <a:xfrm>
            <a:off x="4389120" y="3246120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62272" y="3305556"/>
            <a:ext cx="11795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C7D2FE"/>
                </a:solidFill>
              </a:rPr>
              <a:t>91,250 records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31520" y="60167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Becky Lin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62910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Monroe University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406640" y="5212080"/>
            <a:ext cx="3977640" cy="749808"/>
          </a:xfrm>
          <a:prstGeom prst="roundRect">
            <a:avLst>
              <a:gd name="adj" fmla="val 97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35240" y="543153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Goal: identify operational and financial patterns by joining supply-chain data with holiday and weather context.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Datasets and project architecture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Three data sources support demand, inventory, external-context, and cloud validation analysis.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31720" y="2578608"/>
            <a:ext cx="1371600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715000" y="2578608"/>
            <a:ext cx="1371600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9098280" y="2578608"/>
            <a:ext cx="1371600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40080" y="1920240"/>
            <a:ext cx="1737360" cy="1261872"/>
          </a:xfrm>
          <a:prstGeom prst="roundRect">
            <a:avLst>
              <a:gd name="adj" fmla="val 5797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848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Supply Chain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2423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91,250 daily SKU-warehouse records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2024 inventory, demand, cost, price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640080" y="3657600"/>
            <a:ext cx="1737360" cy="1078992"/>
          </a:xfrm>
          <a:prstGeom prst="roundRect">
            <a:avLst>
              <a:gd name="adj" fmla="val 6780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8221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Holidays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4160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11 U.S. federal holidays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joined by Date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640080" y="5120640"/>
            <a:ext cx="1737360" cy="1078992"/>
          </a:xfrm>
          <a:prstGeom prst="roundRect">
            <a:avLst>
              <a:gd name="adj" fmla="val 6780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52852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Weather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7240" y="5623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305 available weather days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one Missouri station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3703320" y="1874520"/>
            <a:ext cx="201168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20391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PySpark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840480" y="2377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Explore, preprocess, encode, bin, validate joins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7086600" y="1874520"/>
            <a:ext cx="201168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0" y="20391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Joined Parquet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223760" y="2377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Final enriched fact table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preserves all 91,250 rows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10058400" y="1874520"/>
            <a:ext cx="169164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95560" y="203911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Analysis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195560" y="23774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Holiday demand, risk, promotion, forecast, finance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3703320" y="3977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AWS validation path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206240" y="4800600"/>
            <a:ext cx="132588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537960" y="4800600"/>
            <a:ext cx="132588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291840" y="4370832"/>
            <a:ext cx="914400" cy="859536"/>
          </a:xfrm>
          <a:prstGeom prst="roundRect">
            <a:avLst>
              <a:gd name="adj" fmla="val 8511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29000" y="453542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S3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429000" y="487375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cloud object storage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5532120" y="4370832"/>
            <a:ext cx="1005840" cy="859536"/>
          </a:xfrm>
          <a:prstGeom prst="roundRect">
            <a:avLst>
              <a:gd name="adj" fmla="val 8511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0" y="453542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Glue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669280" y="487375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external table metadata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7863840" y="4370832"/>
            <a:ext cx="1143000" cy="859536"/>
          </a:xfrm>
          <a:prstGeom prst="roundRect">
            <a:avLst>
              <a:gd name="adj" fmla="val 8511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01000" y="453542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Athena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001000" y="4873752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serverless SQL join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8458200" y="59893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72033"/>
                </a:solidFill>
              </a:rPr>
              <a:t>Key grain: Date + SKU_ID + Warehouse_ID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CS-675 Final Project | Becky Lin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11338560" y="64922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2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PySpark preprocessing pipeline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Prepared the inventory fact table for reusable, scalable analysis.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1874520" cy="1078992"/>
          </a:xfrm>
          <a:prstGeom prst="roundRect">
            <a:avLst>
              <a:gd name="adj" fmla="val 8475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73152" cy="10789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8191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033"/>
                </a:solidFill>
              </a:rPr>
              <a:t>91,250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41248" y="196596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</a:rPr>
              <a:t>Records preserved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41248" y="218541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64748B"/>
                </a:solidFill>
              </a:rPr>
              <a:t>No duplicate grain rows</a:t>
            </a:r>
            <a:endParaRPr lang="en-US" sz="660" dirty="0"/>
          </a:p>
        </p:txBody>
      </p:sp>
      <p:sp>
        <p:nvSpPr>
          <p:cNvPr id="10" name="Shape 8"/>
          <p:cNvSpPr/>
          <p:nvPr/>
        </p:nvSpPr>
        <p:spPr>
          <a:xfrm>
            <a:off x="2743200" y="1417320"/>
            <a:ext cx="1874520" cy="1078992"/>
          </a:xfrm>
          <a:prstGeom prst="roundRect">
            <a:avLst>
              <a:gd name="adj" fmla="val 8475"/>
            </a:avLst>
          </a:prstGeom>
          <a:solidFill>
            <a:srgbClr val="FFED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1417320"/>
            <a:ext cx="73152" cy="10789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44368" y="158191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033"/>
                </a:solidFill>
              </a:rPr>
              <a:t>110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944368" y="196596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</a:rPr>
              <a:t>Potential outliers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944368" y="218541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64748B"/>
                </a:solidFill>
              </a:rPr>
              <a:t>High demand kept as plausible</a:t>
            </a:r>
            <a:endParaRPr lang="en-US" sz="660" dirty="0"/>
          </a:p>
        </p:txBody>
      </p:sp>
      <p:sp>
        <p:nvSpPr>
          <p:cNvPr id="15" name="Shape 13"/>
          <p:cNvSpPr/>
          <p:nvPr/>
        </p:nvSpPr>
        <p:spPr>
          <a:xfrm>
            <a:off x="4846320" y="1417320"/>
            <a:ext cx="1874520" cy="1078992"/>
          </a:xfrm>
          <a:prstGeom prst="roundRect">
            <a:avLst>
              <a:gd name="adj" fmla="val 8475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1417320"/>
            <a:ext cx="73152" cy="10789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47488" y="158191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033"/>
                </a:solidFill>
              </a:rPr>
              <a:t>305 days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047488" y="196596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</a:rPr>
              <a:t>Weather coverage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47488" y="218541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64748B"/>
                </a:solidFill>
              </a:rPr>
              <a:t>60 dates missing weather</a:t>
            </a:r>
            <a:endParaRPr lang="en-US" sz="660" dirty="0"/>
          </a:p>
        </p:txBody>
      </p:sp>
      <p:sp>
        <p:nvSpPr>
          <p:cNvPr id="20" name="Shape 18"/>
          <p:cNvSpPr/>
          <p:nvPr/>
        </p:nvSpPr>
        <p:spPr>
          <a:xfrm>
            <a:off x="6949440" y="1417320"/>
            <a:ext cx="1874520" cy="1078992"/>
          </a:xfrm>
          <a:prstGeom prst="roundRect">
            <a:avLst>
              <a:gd name="adj" fmla="val 8475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49440" y="1417320"/>
            <a:ext cx="73152" cy="10789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50608" y="158191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033"/>
                </a:solidFill>
              </a:rPr>
              <a:t>0 positives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7150608" y="196596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</a:rPr>
              <a:t>Stockout flag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150608" y="218541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64748B"/>
                </a:solidFill>
              </a:rPr>
              <a:t>Replaced with derived risk</a:t>
            </a:r>
            <a:endParaRPr lang="en-US" sz="660" dirty="0"/>
          </a:p>
        </p:txBody>
      </p:sp>
      <p:sp>
        <p:nvSpPr>
          <p:cNvPr id="25" name="Text 23"/>
          <p:cNvSpPr/>
          <p:nvPr/>
        </p:nvSpPr>
        <p:spPr>
          <a:xfrm>
            <a:off x="777240" y="29718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Processing steps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194560" y="4251960"/>
            <a:ext cx="630936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77240" y="384048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400507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Explore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14400" y="43434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Schema + grain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4434840" y="4251960"/>
            <a:ext cx="630936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017520" y="384048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54680" y="400507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Clean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154680" y="43434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Nulls + sentinel values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6675120" y="4251960"/>
            <a:ext cx="630936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257800" y="384048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94960" y="400507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Transform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394960" y="43434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capping + scaling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8915400" y="4251960"/>
            <a:ext cx="630936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498080" y="384048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35240" y="400507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Encode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7635240" y="43434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Region one-hot</a:t>
            </a:r>
            <a:endParaRPr lang="en-US" sz="720" dirty="0"/>
          </a:p>
        </p:txBody>
      </p:sp>
      <p:sp>
        <p:nvSpPr>
          <p:cNvPr id="42" name="Shape 40"/>
          <p:cNvSpPr/>
          <p:nvPr/>
        </p:nvSpPr>
        <p:spPr>
          <a:xfrm>
            <a:off x="9738360" y="384048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875520" y="400507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Analyze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9875520" y="43434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risk + finance</a:t>
            </a:r>
            <a:endParaRPr lang="en-US" sz="720" dirty="0"/>
          </a:p>
        </p:txBody>
      </p:sp>
      <p:sp>
        <p:nvSpPr>
          <p:cNvPr id="45" name="Shape 43"/>
          <p:cNvSpPr/>
          <p:nvPr/>
        </p:nvSpPr>
        <p:spPr>
          <a:xfrm>
            <a:off x="777240" y="5257800"/>
            <a:ext cx="10561320" cy="685800"/>
          </a:xfrm>
          <a:prstGeom prst="roundRect">
            <a:avLst>
              <a:gd name="adj" fmla="val 10667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05840" y="546811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72033"/>
                </a:solidFill>
              </a:rPr>
              <a:t>Inventory risk was derived as Inventory_Level ≤ Reorder_Point because the original Stockout_Flag contained no positive values.</a:t>
            </a:r>
            <a:endParaRPr lang="en-US" sz="1280" dirty="0"/>
          </a:p>
        </p:txBody>
      </p:sp>
      <p:sp>
        <p:nvSpPr>
          <p:cNvPr id="47" name="Text 45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CS-675 Final Project | Becky Lin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11338560" y="64922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3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Cross-source joins and Spark optimization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 date-based left join preserves inventory facts while adding external context.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25880"/>
            <a:ext cx="420624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250" dirty="0">
                <a:solidFill>
                  <a:srgbClr val="172033"/>
                </a:solidFill>
              </a:rPr>
              <a:t>Holiday table was a small dimension table with 11 rows.</a:t>
            </a:r>
            <a:endParaRPr lang="en-US" sz="1250" dirty="0"/>
          </a:p>
          <a:p>
            <a:r>
              <a:rPr lang="en-US" sz="1250" dirty="0">
                <a:solidFill>
                  <a:srgbClr val="172033"/>
                </a:solidFill>
              </a:rPr>
              <a:t>Left joins preserved all 91,250 inventory records.</a:t>
            </a:r>
            <a:endParaRPr lang="en-US" sz="1250" dirty="0"/>
          </a:p>
          <a:p>
            <a:r>
              <a:rPr lang="en-US" sz="1250" dirty="0">
                <a:solidFill>
                  <a:srgbClr val="172033"/>
                </a:solidFill>
              </a:rPr>
              <a:t>Spark physical plan confirmed BroadcastHashJoin.</a:t>
            </a:r>
            <a:endParaRPr lang="en-US" sz="1250" dirty="0"/>
          </a:p>
          <a:p>
            <a:r>
              <a:rPr lang="en-US" sz="1250" dirty="0">
                <a:solidFill>
                  <a:srgbClr val="172033"/>
                </a:solidFill>
              </a:rPr>
              <a:t>Weather values used as exploratory external context; nulls preserved.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19088" y="2139696"/>
            <a:ext cx="987552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9125712" y="2139696"/>
            <a:ext cx="914400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166360" y="1554480"/>
            <a:ext cx="1280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0" y="17190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Inventory facts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303520" y="20574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91,250 rows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large side kept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7406640" y="1554480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43800" y="171907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Broadcast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543800" y="20574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holiday table copied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to executors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10040112" y="1554480"/>
            <a:ext cx="1371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77272" y="17190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Local lookup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177272" y="2057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join by Date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no large shuffle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5303520" y="3703320"/>
            <a:ext cx="5806440" cy="1417320"/>
          </a:xfrm>
          <a:prstGeom prst="roundRect">
            <a:avLst>
              <a:gd name="adj" fmla="val 5161"/>
            </a:avLst>
          </a:prstGeom>
          <a:solidFill>
            <a:srgbClr val="0E1B2A"/>
          </a:solidFill>
          <a:ln w="12700">
            <a:solidFill>
              <a:srgbClr val="0E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32120" y="39319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Spark explain() confirmed: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32120" y="431596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BroadcastHashJoin LeftOuter BuildRight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532120" y="4736592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Meaning: Spark built an in-memory hash table from the tiny holiday dimension and matched it against the larger inventory table.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CS-675 Final Project | Becky Lin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11338560" y="64922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4</a:t>
            </a:r>
            <a:endParaRPr lang="en-US" sz="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business finding: promotion lift comes with inventory pressure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Promotions produced the strongest demand and financial signal in the project.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731520" y="1417320"/>
          <a:ext cx="53949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720840" y="1371600"/>
            <a:ext cx="2057400" cy="1078992"/>
          </a:xfrm>
          <a:prstGeom prst="roundRect">
            <a:avLst>
              <a:gd name="adj" fmla="val 8475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720840" y="1371600"/>
            <a:ext cx="73152" cy="10789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22008" y="153619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033"/>
                </a:solidFill>
              </a:rPr>
              <a:t>+27.7%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6922008" y="192024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</a:rPr>
              <a:t>Demand lift during promotions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922008" y="213969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64748B"/>
                </a:solidFill>
              </a:rPr>
              <a:t>24.91 vs 19.50 avg units</a:t>
            </a:r>
            <a:endParaRPr lang="en-US" sz="660" dirty="0"/>
          </a:p>
        </p:txBody>
      </p:sp>
      <p:sp>
        <p:nvSpPr>
          <p:cNvPr id="11" name="Shape 8"/>
          <p:cNvSpPr/>
          <p:nvPr/>
        </p:nvSpPr>
        <p:spPr>
          <a:xfrm>
            <a:off x="9098280" y="1371600"/>
            <a:ext cx="2057400" cy="1078992"/>
          </a:xfrm>
          <a:prstGeom prst="roundRect">
            <a:avLst>
              <a:gd name="adj" fmla="val 8475"/>
            </a:avLst>
          </a:prstGeom>
          <a:solidFill>
            <a:srgbClr val="FFED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098280" y="1371600"/>
            <a:ext cx="73152" cy="10789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299448" y="153619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033"/>
                </a:solidFill>
              </a:rPr>
              <a:t>+1.86 pts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9299448" y="192024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</a:rPr>
              <a:t>Inventory risk change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9299448" y="213969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64748B"/>
                </a:solidFill>
              </a:rPr>
              <a:t>7.20% vs 5.34%</a:t>
            </a:r>
            <a:endParaRPr lang="en-US" sz="660" dirty="0"/>
          </a:p>
        </p:txBody>
      </p:sp>
      <p:sp>
        <p:nvSpPr>
          <p:cNvPr id="16" name="Shape 13"/>
          <p:cNvSpPr/>
          <p:nvPr/>
        </p:nvSpPr>
        <p:spPr>
          <a:xfrm>
            <a:off x="6720840" y="2788920"/>
            <a:ext cx="2057400" cy="1078992"/>
          </a:xfrm>
          <a:prstGeom prst="roundRect">
            <a:avLst>
              <a:gd name="adj" fmla="val 8475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720840" y="2788920"/>
            <a:ext cx="73152" cy="10789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922008" y="295351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033"/>
                </a:solidFill>
              </a:rPr>
              <a:t>$151.68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6922008" y="333756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</a:rPr>
              <a:t>Avg gross profit/record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922008" y="355701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64748B"/>
                </a:solidFill>
              </a:rPr>
              <a:t>Promoted records</a:t>
            </a:r>
            <a:endParaRPr lang="en-US" sz="660" dirty="0"/>
          </a:p>
        </p:txBody>
      </p:sp>
      <p:sp>
        <p:nvSpPr>
          <p:cNvPr id="21" name="Shape 18"/>
          <p:cNvSpPr/>
          <p:nvPr/>
        </p:nvSpPr>
        <p:spPr>
          <a:xfrm>
            <a:off x="9098280" y="2788920"/>
            <a:ext cx="2057400" cy="1078992"/>
          </a:xfrm>
          <a:prstGeom prst="roundRect">
            <a:avLst>
              <a:gd name="adj" fmla="val 8475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098280" y="2788920"/>
            <a:ext cx="73152" cy="10789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99448" y="295351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033"/>
                </a:solidFill>
              </a:rPr>
              <a:t>2.38</a:t>
            </a:r>
            <a:endParaRPr lang="en-US" sz="2100" dirty="0"/>
          </a:p>
        </p:txBody>
      </p:sp>
      <p:sp>
        <p:nvSpPr>
          <p:cNvPr id="24" name="Text 21"/>
          <p:cNvSpPr/>
          <p:nvPr/>
        </p:nvSpPr>
        <p:spPr>
          <a:xfrm>
            <a:off x="9299448" y="333756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</a:rPr>
              <a:t>Forecast MAE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9299448" y="355701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64748B"/>
                </a:solidFill>
              </a:rPr>
              <a:t>Stable across conditions</a:t>
            </a:r>
            <a:endParaRPr lang="en-US" sz="660" dirty="0"/>
          </a:p>
        </p:txBody>
      </p:sp>
      <p:sp>
        <p:nvSpPr>
          <p:cNvPr id="26" name="Shape 23"/>
          <p:cNvSpPr/>
          <p:nvPr/>
        </p:nvSpPr>
        <p:spPr>
          <a:xfrm>
            <a:off x="6720840" y="4617720"/>
            <a:ext cx="4434840" cy="731520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949440" y="484632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Interpretation: promotions increased estimated revenue and gross profit, but also raised replenishment pressure.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CS-675 Final Project | Becky Lin</a:t>
            </a:r>
            <a:endParaRPr lang="en-US" sz="720" dirty="0"/>
          </a:p>
        </p:txBody>
      </p:sp>
      <p:sp>
        <p:nvSpPr>
          <p:cNvPr id="29" name="Text 26"/>
          <p:cNvSpPr/>
          <p:nvPr/>
        </p:nvSpPr>
        <p:spPr>
          <a:xfrm>
            <a:off x="11338560" y="64922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5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AWS cloud validation reproduced the local result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Terraform provisioned the cloud workspace; Athena reran the holiday-demand join over S3 files.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31720" y="1874520"/>
            <a:ext cx="1234440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709160" y="1874520"/>
            <a:ext cx="1234440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269480" y="1874520"/>
            <a:ext cx="1234440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68680" y="1298448"/>
            <a:ext cx="1417320" cy="1097280"/>
          </a:xfrm>
          <a:prstGeom prst="roundRect">
            <a:avLst>
              <a:gd name="adj" fmla="val 6667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46304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S3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180136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data/supply_chain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data/holidays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3566160" y="1298448"/>
            <a:ext cx="1143000" cy="1097280"/>
          </a:xfrm>
          <a:prstGeom prst="roundRect">
            <a:avLst>
              <a:gd name="adj" fmla="val 6667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146304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Glue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703320" y="180136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database: ds_blktx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external tables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5943600" y="1298448"/>
            <a:ext cx="1325880" cy="1097280"/>
          </a:xfrm>
          <a:prstGeom prst="roundRect">
            <a:avLst>
              <a:gd name="adj" fmla="val 6667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46304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Athena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080760" y="180136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workgroup: ds-blktx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serverless SQL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8503920" y="1298448"/>
            <a:ext cx="1508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41080" y="146304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Validation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641080" y="180136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same holiday join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same averages</a:t>
            </a:r>
            <a:endParaRPr lang="en-US" sz="72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868680" y="3063240"/>
          <a:ext cx="434340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5806440" y="31546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Cloud result matched local PySpark analysis: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806440" y="3611880"/>
            <a:ext cx="516636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150" dirty="0">
                <a:solidFill>
                  <a:srgbClr val="172033"/>
                </a:solidFill>
              </a:rPr>
              <a:t>Non-holiday: 88,500 records; avg units sold ≈ 20.09</a:t>
            </a:r>
            <a:endParaRPr lang="en-US" sz="1150" dirty="0"/>
          </a:p>
          <a:p>
            <a:r>
              <a:rPr lang="en-US" sz="1150" dirty="0">
                <a:solidFill>
                  <a:srgbClr val="172033"/>
                </a:solidFill>
              </a:rPr>
              <a:t>Holiday: 2,750 records; avg units sold ≈ 18.87</a:t>
            </a:r>
            <a:endParaRPr lang="en-US" sz="1150" dirty="0"/>
          </a:p>
          <a:p>
            <a:r>
              <a:rPr lang="en-US" sz="1150" dirty="0">
                <a:solidFill>
                  <a:srgbClr val="172033"/>
                </a:solidFill>
              </a:rPr>
              <a:t>Demonstrated S3 → Glue → Athena end-to-end architecture</a:t>
            </a:r>
            <a:endParaRPr lang="en-US" sz="1150" dirty="0"/>
          </a:p>
          <a:p>
            <a:r>
              <a:rPr lang="en-US" sz="1150" dirty="0">
                <a:solidFill>
                  <a:srgbClr val="172033"/>
                </a:solidFill>
              </a:rPr>
              <a:t>EMR/Spark compute was left optional to control cost and time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806440" y="5532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97316"/>
                </a:solidFill>
              </a:rPr>
              <a:t>Scale note: dataset remained at 91,250 records; the 100M-row target was not completed due to time constraints.</a:t>
            </a:r>
            <a:endParaRPr lang="en-US" sz="1020" dirty="0"/>
          </a:p>
        </p:txBody>
      </p:sp>
      <p:sp>
        <p:nvSpPr>
          <p:cNvPr id="24" name="Text 21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CS-675 Final Project | Becky Lin</a:t>
            </a:r>
            <a:endParaRPr lang="en-US" sz="720" dirty="0"/>
          </a:p>
        </p:txBody>
      </p:sp>
      <p:sp>
        <p:nvSpPr>
          <p:cNvPr id="25" name="Text 22"/>
          <p:cNvSpPr/>
          <p:nvPr/>
        </p:nvSpPr>
        <p:spPr>
          <a:xfrm>
            <a:off x="11338560" y="64922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6</a:t>
            </a:r>
            <a:endParaRPr lang="en-US" sz="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1155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DBEAFE"/>
                </a:solidFill>
              </a:rPr>
              <a:t>Demand intensity and promotions mattered more than holiday status or lead-time category alone.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3063240" cy="3108960"/>
          </a:xfrm>
          <a:prstGeom prst="roundRect">
            <a:avLst>
              <a:gd name="adj" fmla="val 238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1488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What worked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606040"/>
            <a:ext cx="246888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CBD5E1"/>
                </a:solidFill>
              </a:rPr>
              <a:t>• Multi-source joins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CBD5E1"/>
                </a:solidFill>
              </a:rPr>
              <a:t>• Broadcast optimization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CBD5E1"/>
                </a:solidFill>
              </a:rPr>
              <a:t>• Reusable PySpark pipeline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CBD5E1"/>
                </a:solidFill>
              </a:rPr>
              <a:t>• AWS validation via S3, Glue, Athena</a:t>
            </a:r>
            <a:endParaRPr lang="en-US" sz="1130" dirty="0"/>
          </a:p>
        </p:txBody>
      </p:sp>
      <p:sp>
        <p:nvSpPr>
          <p:cNvPr id="7" name="Shape 5"/>
          <p:cNvSpPr/>
          <p:nvPr/>
        </p:nvSpPr>
        <p:spPr>
          <a:xfrm>
            <a:off x="4526280" y="1874520"/>
            <a:ext cx="3063240" cy="3108960"/>
          </a:xfrm>
          <a:prstGeom prst="roundRect">
            <a:avLst>
              <a:gd name="adj" fmla="val 238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21488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Limitations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00600" y="2606040"/>
            <a:ext cx="246888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CBD5E1"/>
                </a:solidFill>
              </a:rPr>
              <a:t>• One-year dataset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CBD5E1"/>
                </a:solidFill>
              </a:rPr>
              <a:t>• Derived risk measure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CBD5E1"/>
                </a:solidFill>
              </a:rPr>
              <a:t>• Weather from one station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CBD5E1"/>
                </a:solidFill>
              </a:rPr>
              <a:t>• Financial metrics are estimates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CBD5E1"/>
                </a:solidFill>
              </a:rPr>
              <a:t>• No 100M-row scale test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8321040" y="1874520"/>
            <a:ext cx="3063240" cy="3108960"/>
          </a:xfrm>
          <a:prstGeom prst="roundRect">
            <a:avLst>
              <a:gd name="adj" fmla="val 238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0" y="21488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Next steps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95360" y="2606040"/>
            <a:ext cx="246888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CBD5E1"/>
                </a:solidFill>
              </a:rPr>
              <a:t>• Apply to larger real data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CBD5E1"/>
                </a:solidFill>
              </a:rPr>
              <a:t>• Add regional weather mapping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CBD5E1"/>
                </a:solidFill>
              </a:rPr>
              <a:t>• Test EMR Serverless Spark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CBD5E1"/>
                </a:solidFill>
              </a:rPr>
              <a:t>• Move beyond descriptive analysis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731520" y="5650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Business takeaway: promotional planning should be coordinated with replenishment capacity, because higher sales also increased inventory-risk exposure.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800600" y="6263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Thank you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Monroe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Holiday Demand and Supply Chain Inventory Analytics</dc:title>
  <dc:subject>CS-675 Supply Chain Analytics Final Project</dc:subject>
  <dc:creator>Becky Lin</dc:creator>
  <cp:lastModifiedBy>Becky Lin</cp:lastModifiedBy>
  <cp:revision>1</cp:revision>
  <dcterms:created xsi:type="dcterms:W3CDTF">2026-07-28T20:28:01Z</dcterms:created>
  <dcterms:modified xsi:type="dcterms:W3CDTF">2026-07-28T20:28:01Z</dcterms:modified>
</cp:coreProperties>
</file>